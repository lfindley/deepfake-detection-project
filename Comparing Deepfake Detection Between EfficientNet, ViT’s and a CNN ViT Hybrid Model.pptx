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2a869e5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2a869e5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362fbb3e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362fbb3e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52a869e51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52a869e51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5362fbb3e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5362fbb3e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52a869e51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52a869e51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2a869e51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52a869e51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5362fbb3e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5362fbb3e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52a869e51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52a869e51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5530e0cae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5530e0cae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5530e0cae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5530e0cae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52a869e51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52a869e51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5530e0cae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5530e0cae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52a869e51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52a869e51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52a869e51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52a869e51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kaggle.com/datasets/mohammedabdeldayem/the-fake-or-real-dataset?resource=download"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780"/>
              <a:t>Comparing Deepfake Detection Between EfficientNet, ViT’s and a CNN ViT Hybrid.</a:t>
            </a:r>
            <a:endParaRPr sz="378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Agustin Munoz, Leo Findley, Danny Kim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34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and Motivation</a:t>
            </a:r>
            <a:endParaRPr/>
          </a:p>
        </p:txBody>
      </p:sp>
      <p:sp>
        <p:nvSpPr>
          <p:cNvPr id="61" name="Google Shape;61;p14"/>
          <p:cNvSpPr txBox="1"/>
          <p:nvPr>
            <p:ph idx="1" type="body"/>
          </p:nvPr>
        </p:nvSpPr>
        <p:spPr>
          <a:xfrm>
            <a:off x="311700" y="616075"/>
            <a:ext cx="8520600" cy="2124900"/>
          </a:xfrm>
          <a:prstGeom prst="rect">
            <a:avLst/>
          </a:prstGeom>
        </p:spPr>
        <p:txBody>
          <a:bodyPr anchorCtr="0" anchor="t" bIns="91425" lIns="91425" spcFirstLastPara="1" rIns="91425" wrap="square" tIns="91425">
            <a:normAutofit/>
          </a:bodyPr>
          <a:lstStyle/>
          <a:p>
            <a:pPr indent="457200" lvl="0" marL="0" rtl="0" algn="l">
              <a:spcBef>
                <a:spcPts val="0"/>
              </a:spcBef>
              <a:spcAft>
                <a:spcPts val="1200"/>
              </a:spcAft>
              <a:buNone/>
            </a:pPr>
            <a:r>
              <a:rPr lang="en" sz="1200"/>
              <a:t>In recent years deepfake generation techniques have improved in an exponential way, where as a few years ago you had images and videos that looked like weird abominations of the things they were trying to mimic, nowadays deepfakes can sometimes seem almost indistinguishable to the naked eye from what it is trying to copy. Through the usage of technologies like Variational </a:t>
            </a:r>
            <a:r>
              <a:rPr lang="en" sz="1200"/>
              <a:t>Autoencoders and Generative Adversarial Networks, deepfakes are now able to fool many into believing the generated product to be real, and although this is not an inherently bad technology, as it can be used in things like film to make an actor look younger, older or just different, it can be used in more nefarious ways, like trying to steal someone's likeness or fool people into believing something someone did or said in a deepfake video to be real. This has lead to many developments in the field of detecting deepfakes to be able to better distinguish what is real from fake.</a:t>
            </a:r>
            <a:endParaRPr sz="1200"/>
          </a:p>
        </p:txBody>
      </p:sp>
      <p:pic>
        <p:nvPicPr>
          <p:cNvPr id="62" name="Google Shape;62;p14"/>
          <p:cNvPicPr preferRelativeResize="0"/>
          <p:nvPr/>
        </p:nvPicPr>
        <p:blipFill>
          <a:blip r:embed="rId3">
            <a:alphaModFix/>
          </a:blip>
          <a:stretch>
            <a:fillRect/>
          </a:stretch>
        </p:blipFill>
        <p:spPr>
          <a:xfrm>
            <a:off x="2066975" y="2698425"/>
            <a:ext cx="5010049" cy="2097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Introduction and Motivation</a:t>
            </a:r>
            <a:endParaRPr/>
          </a:p>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1200"/>
              </a:spcAft>
              <a:buClr>
                <a:schemeClr val="dk1"/>
              </a:buClr>
              <a:buSzPts val="1100"/>
              <a:buFont typeface="Arial"/>
              <a:buNone/>
            </a:pPr>
            <a:r>
              <a:rPr lang="en" sz="1200"/>
              <a:t>To combat the </a:t>
            </a:r>
            <a:r>
              <a:rPr lang="en" sz="1200"/>
              <a:t>wider spread</a:t>
            </a:r>
            <a:r>
              <a:rPr lang="en" sz="1200"/>
              <a:t> of deepfake usage</a:t>
            </a:r>
            <a:r>
              <a:rPr lang="en" sz="1200"/>
              <a:t> multiple forms of detecting deepfakes in images, video and even audio have been made. Some of the top AI models used in these methods use CNNs like EfficientNet or Visual Transformers(ViTs), but the paper that inspired our research into this topic proposes the use of a CNN ViT hybrid, where the CNN gets used for feature extraction which then gets sent to a Transformer Encoder, making the setup work similarly to a ViT. This setup offers comparable performance to other CNN and ViT models but uses less parameters and in our case in a substantially shorter amount of time</a:t>
            </a:r>
            <a:endParaRPr/>
          </a:p>
        </p:txBody>
      </p:sp>
      <p:pic>
        <p:nvPicPr>
          <p:cNvPr id="69" name="Google Shape;69;p15"/>
          <p:cNvPicPr preferRelativeResize="0"/>
          <p:nvPr/>
        </p:nvPicPr>
        <p:blipFill>
          <a:blip r:embed="rId3">
            <a:alphaModFix/>
          </a:blip>
          <a:stretch>
            <a:fillRect/>
          </a:stretch>
        </p:blipFill>
        <p:spPr>
          <a:xfrm>
            <a:off x="6271686" y="2264013"/>
            <a:ext cx="1467325" cy="2879475"/>
          </a:xfrm>
          <a:prstGeom prst="rect">
            <a:avLst/>
          </a:prstGeom>
          <a:noFill/>
          <a:ln>
            <a:noFill/>
          </a:ln>
        </p:spPr>
      </p:pic>
      <p:pic>
        <p:nvPicPr>
          <p:cNvPr id="70" name="Google Shape;70;p15"/>
          <p:cNvPicPr preferRelativeResize="0"/>
          <p:nvPr/>
        </p:nvPicPr>
        <p:blipFill>
          <a:blip r:embed="rId4">
            <a:alphaModFix/>
          </a:blip>
          <a:stretch>
            <a:fillRect/>
          </a:stretch>
        </p:blipFill>
        <p:spPr>
          <a:xfrm>
            <a:off x="1195146" y="2492158"/>
            <a:ext cx="3250324" cy="242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 and Related Work</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1200"/>
              </a:spcAft>
              <a:buNone/>
            </a:pPr>
            <a:r>
              <a:rPr lang="en" sz="1500"/>
              <a:t>In the paper </a:t>
            </a:r>
            <a:r>
              <a:rPr i="1" lang="en" sz="1500"/>
              <a:t>Combining EfficientNet and Vision Transformers for Video Deepfake Detection, </a:t>
            </a:r>
            <a:r>
              <a:rPr lang="en" sz="1500"/>
              <a:t>the authors state how a hybrid model using EfficintNet as a feature extractor and a Transformer Encoder can rival the accuracy and f1 scores of state of the art CNNs and ViTs while using less params on their pretrained weights. For our video and audio models we use a small EfficientNetV2 using ~21 million params, a small ViT using ~22 million params, and a EfficientNetB0 with a tiny ViT for the hybrid using ~9 million params. The models look for inconsistencies in the frames or spectrographs and learn subtle cues like blurry frames and too smooth spectrographs.</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Approach: Video </a:t>
            </a:r>
            <a:endParaRPr/>
          </a:p>
          <a:p>
            <a:pPr indent="0" lvl="0" marL="0" rtl="0" algn="l">
              <a:spcBef>
                <a:spcPts val="0"/>
              </a:spcBef>
              <a:spcAft>
                <a:spcPts val="0"/>
              </a:spcAft>
              <a:buNone/>
            </a:pPr>
            <a:r>
              <a:t/>
            </a:r>
            <a:endParaRPr/>
          </a:p>
        </p:txBody>
      </p:sp>
      <p:sp>
        <p:nvSpPr>
          <p:cNvPr id="82" name="Google Shape;82;p17"/>
          <p:cNvSpPr txBox="1"/>
          <p:nvPr>
            <p:ph idx="1" type="body"/>
          </p:nvPr>
        </p:nvSpPr>
        <p:spPr>
          <a:xfrm>
            <a:off x="311700" y="1152475"/>
            <a:ext cx="8520600" cy="1266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200"/>
              <a:t>We first select an randomized but equal </a:t>
            </a:r>
            <a:r>
              <a:rPr lang="en" sz="1200"/>
              <a:t>amount</a:t>
            </a:r>
            <a:r>
              <a:rPr lang="en" sz="1200"/>
              <a:t> of real and fake videos from the </a:t>
            </a:r>
            <a:r>
              <a:rPr lang="en" sz="1200"/>
              <a:t>Deep Fake Detection (DFD) Entire Original Dataset from kaggle</a:t>
            </a:r>
            <a:r>
              <a:rPr lang="en" sz="600"/>
              <a:t> </a:t>
            </a:r>
            <a:r>
              <a:rPr lang="en" sz="1200"/>
              <a:t>which are a dataset of real videos of actors and a </a:t>
            </a:r>
            <a:r>
              <a:rPr lang="en" sz="1200"/>
              <a:t>dataset</a:t>
            </a:r>
            <a:r>
              <a:rPr lang="en" sz="1200"/>
              <a:t> of edited video deepfakes. Then we get their frames extracted after which they are resized and transformed to a tensor then we create a dataset of </a:t>
            </a:r>
            <a:r>
              <a:rPr lang="en" sz="1200"/>
              <a:t>images</a:t>
            </a:r>
            <a:r>
              <a:rPr lang="en" sz="1200"/>
              <a:t> for training and validation for our models.</a:t>
            </a:r>
            <a:endParaRPr sz="1200"/>
          </a:p>
        </p:txBody>
      </p:sp>
      <p:pic>
        <p:nvPicPr>
          <p:cNvPr id="83" name="Google Shape;83;p17"/>
          <p:cNvPicPr preferRelativeResize="0"/>
          <p:nvPr/>
        </p:nvPicPr>
        <p:blipFill>
          <a:blip r:embed="rId3">
            <a:alphaModFix/>
          </a:blip>
          <a:stretch>
            <a:fillRect/>
          </a:stretch>
        </p:blipFill>
        <p:spPr>
          <a:xfrm>
            <a:off x="281725" y="2199325"/>
            <a:ext cx="3636100" cy="2504300"/>
          </a:xfrm>
          <a:prstGeom prst="rect">
            <a:avLst/>
          </a:prstGeom>
          <a:noFill/>
          <a:ln>
            <a:noFill/>
          </a:ln>
        </p:spPr>
      </p:pic>
      <p:pic>
        <p:nvPicPr>
          <p:cNvPr id="84" name="Google Shape;84;p17"/>
          <p:cNvPicPr preferRelativeResize="0"/>
          <p:nvPr/>
        </p:nvPicPr>
        <p:blipFill>
          <a:blip r:embed="rId4">
            <a:alphaModFix/>
          </a:blip>
          <a:stretch>
            <a:fillRect/>
          </a:stretch>
        </p:blipFill>
        <p:spPr>
          <a:xfrm>
            <a:off x="4416375" y="2199325"/>
            <a:ext cx="4415917" cy="2504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 Video </a:t>
            </a:r>
            <a:endParaRPr/>
          </a:p>
        </p:txBody>
      </p:sp>
      <p:sp>
        <p:nvSpPr>
          <p:cNvPr id="90" name="Google Shape;90;p18"/>
          <p:cNvSpPr txBox="1"/>
          <p:nvPr>
            <p:ph idx="1" type="body"/>
          </p:nvPr>
        </p:nvSpPr>
        <p:spPr>
          <a:xfrm>
            <a:off x="311700" y="11575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For the CNN models we used a small version of EfficientNetV2 with pretrained weights, a small ViT with pretrained weights and the hybrid used a combination of EfficientNetB0 which is the smallest of </a:t>
            </a:r>
            <a:r>
              <a:rPr lang="en" sz="1400"/>
              <a:t>efficient</a:t>
            </a:r>
            <a:r>
              <a:rPr lang="en" sz="1400"/>
              <a:t> networks and a tiny ViT both of which use less params than their full model counterparts.</a:t>
            </a:r>
            <a:endParaRPr sz="1400"/>
          </a:p>
          <a:p>
            <a:pPr indent="0" lvl="0" marL="0" rtl="0" algn="l">
              <a:spcBef>
                <a:spcPts val="1200"/>
              </a:spcBef>
              <a:spcAft>
                <a:spcPts val="1200"/>
              </a:spcAft>
              <a:buNone/>
            </a:pPr>
            <a:r>
              <a:t/>
            </a:r>
            <a:endParaRPr sz="1400"/>
          </a:p>
        </p:txBody>
      </p:sp>
      <p:pic>
        <p:nvPicPr>
          <p:cNvPr id="91" name="Google Shape;91;p18"/>
          <p:cNvPicPr preferRelativeResize="0"/>
          <p:nvPr/>
        </p:nvPicPr>
        <p:blipFill>
          <a:blip r:embed="rId3">
            <a:alphaModFix/>
          </a:blip>
          <a:stretch>
            <a:fillRect/>
          </a:stretch>
        </p:blipFill>
        <p:spPr>
          <a:xfrm>
            <a:off x="375974" y="2018325"/>
            <a:ext cx="2775226" cy="2804326"/>
          </a:xfrm>
          <a:prstGeom prst="rect">
            <a:avLst/>
          </a:prstGeom>
          <a:noFill/>
          <a:ln>
            <a:noFill/>
          </a:ln>
        </p:spPr>
      </p:pic>
      <p:pic>
        <p:nvPicPr>
          <p:cNvPr id="92" name="Google Shape;92;p18"/>
          <p:cNvPicPr preferRelativeResize="0"/>
          <p:nvPr/>
        </p:nvPicPr>
        <p:blipFill>
          <a:blip r:embed="rId4">
            <a:alphaModFix/>
          </a:blip>
          <a:stretch>
            <a:fillRect/>
          </a:stretch>
        </p:blipFill>
        <p:spPr>
          <a:xfrm>
            <a:off x="4854000" y="2018324"/>
            <a:ext cx="3492900" cy="824325"/>
          </a:xfrm>
          <a:prstGeom prst="rect">
            <a:avLst/>
          </a:prstGeom>
          <a:noFill/>
          <a:ln>
            <a:noFill/>
          </a:ln>
        </p:spPr>
      </p:pic>
      <p:pic>
        <p:nvPicPr>
          <p:cNvPr id="93" name="Google Shape;93;p18"/>
          <p:cNvPicPr preferRelativeResize="0"/>
          <p:nvPr/>
        </p:nvPicPr>
        <p:blipFill>
          <a:blip r:embed="rId5">
            <a:alphaModFix/>
          </a:blip>
          <a:stretch>
            <a:fillRect/>
          </a:stretch>
        </p:blipFill>
        <p:spPr>
          <a:xfrm>
            <a:off x="4853994" y="2965056"/>
            <a:ext cx="3970925" cy="665812"/>
          </a:xfrm>
          <a:prstGeom prst="rect">
            <a:avLst/>
          </a:prstGeom>
          <a:noFill/>
          <a:ln>
            <a:noFill/>
          </a:ln>
        </p:spPr>
      </p:pic>
      <p:pic>
        <p:nvPicPr>
          <p:cNvPr id="94" name="Google Shape;94;p18"/>
          <p:cNvPicPr preferRelativeResize="0"/>
          <p:nvPr/>
        </p:nvPicPr>
        <p:blipFill>
          <a:blip r:embed="rId6">
            <a:alphaModFix/>
          </a:blip>
          <a:stretch>
            <a:fillRect/>
          </a:stretch>
        </p:blipFill>
        <p:spPr>
          <a:xfrm>
            <a:off x="4853997" y="3793272"/>
            <a:ext cx="2319775" cy="929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Experiments</a:t>
            </a:r>
            <a:r>
              <a:rPr lang="en"/>
              <a:t>: Video</a:t>
            </a:r>
            <a:endParaRPr/>
          </a:p>
          <a:p>
            <a:pPr indent="0" lvl="0" marL="0" rtl="0" algn="l">
              <a:spcBef>
                <a:spcPts val="0"/>
              </a:spcBef>
              <a:spcAft>
                <a:spcPts val="0"/>
              </a:spcAft>
              <a:buNone/>
            </a:pPr>
            <a:r>
              <a:t/>
            </a:r>
            <a:endParaRPr/>
          </a:p>
        </p:txBody>
      </p:sp>
      <p:sp>
        <p:nvSpPr>
          <p:cNvPr id="100" name="Google Shape;100;p19"/>
          <p:cNvSpPr txBox="1"/>
          <p:nvPr>
            <p:ph idx="1" type="body"/>
          </p:nvPr>
        </p:nvSpPr>
        <p:spPr>
          <a:xfrm>
            <a:off x="311700" y="1152475"/>
            <a:ext cx="4887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t>From the </a:t>
            </a:r>
            <a:r>
              <a:rPr b="1" lang="en" sz="1600"/>
              <a:t>Deep Fake Detection (DFD) Entire Original Dataset</a:t>
            </a:r>
            <a:r>
              <a:rPr lang="en" sz="1600"/>
              <a:t> which uses data from the Face Forensics server, using 80% of the data for </a:t>
            </a:r>
            <a:r>
              <a:rPr lang="en" sz="1600"/>
              <a:t>training</a:t>
            </a:r>
            <a:r>
              <a:rPr lang="en" sz="1600"/>
              <a:t> and 20% for validation, we trained the models using the Adam optimizer and tested for loss, accuracy and f1 scores over 10 epochs.</a:t>
            </a:r>
            <a:r>
              <a:rPr lang="en"/>
              <a:t> </a:t>
            </a:r>
            <a:endParaRPr/>
          </a:p>
        </p:txBody>
      </p:sp>
      <p:pic>
        <p:nvPicPr>
          <p:cNvPr id="101" name="Google Shape;101;p19"/>
          <p:cNvPicPr preferRelativeResize="0"/>
          <p:nvPr/>
        </p:nvPicPr>
        <p:blipFill>
          <a:blip r:embed="rId3">
            <a:alphaModFix/>
          </a:blip>
          <a:stretch>
            <a:fillRect/>
          </a:stretch>
        </p:blipFill>
        <p:spPr>
          <a:xfrm>
            <a:off x="5140980" y="445025"/>
            <a:ext cx="4003021" cy="4493475"/>
          </a:xfrm>
          <a:prstGeom prst="rect">
            <a:avLst/>
          </a:prstGeom>
          <a:noFill/>
          <a:ln>
            <a:noFill/>
          </a:ln>
        </p:spPr>
      </p:pic>
      <p:pic>
        <p:nvPicPr>
          <p:cNvPr id="102" name="Google Shape;102;p19"/>
          <p:cNvPicPr preferRelativeResize="0"/>
          <p:nvPr/>
        </p:nvPicPr>
        <p:blipFill>
          <a:blip r:embed="rId4">
            <a:alphaModFix/>
          </a:blip>
          <a:stretch>
            <a:fillRect/>
          </a:stretch>
        </p:blipFill>
        <p:spPr>
          <a:xfrm>
            <a:off x="683033" y="3094375"/>
            <a:ext cx="4144325" cy="1309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Experiments: Video (50 Real/50 Fake)</a:t>
            </a:r>
            <a:endParaRPr/>
          </a:p>
        </p:txBody>
      </p:sp>
      <p:sp>
        <p:nvSpPr>
          <p:cNvPr id="108" name="Google Shape;108;p20"/>
          <p:cNvSpPr txBox="1"/>
          <p:nvPr>
            <p:ph idx="1" type="body"/>
          </p:nvPr>
        </p:nvSpPr>
        <p:spPr>
          <a:xfrm>
            <a:off x="311700" y="1152475"/>
            <a:ext cx="8520600" cy="100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200"/>
              <a:t>Here we see that the Hybrid model more or less matched or outperformed both the CNN and ViT models, this is using less parameters for its pretrained weights and taking less time to complete, which has a substantial reduction in cost of resources needed to run this model compared to the others.</a:t>
            </a:r>
            <a:endParaRPr sz="1200"/>
          </a:p>
        </p:txBody>
      </p:sp>
      <p:pic>
        <p:nvPicPr>
          <p:cNvPr id="109" name="Google Shape;109;p20"/>
          <p:cNvPicPr preferRelativeResize="0"/>
          <p:nvPr/>
        </p:nvPicPr>
        <p:blipFill>
          <a:blip r:embed="rId3">
            <a:alphaModFix/>
          </a:blip>
          <a:stretch>
            <a:fillRect/>
          </a:stretch>
        </p:blipFill>
        <p:spPr>
          <a:xfrm>
            <a:off x="311695" y="1991450"/>
            <a:ext cx="2784600" cy="940675"/>
          </a:xfrm>
          <a:prstGeom prst="rect">
            <a:avLst/>
          </a:prstGeom>
          <a:noFill/>
          <a:ln>
            <a:noFill/>
          </a:ln>
        </p:spPr>
      </p:pic>
      <p:pic>
        <p:nvPicPr>
          <p:cNvPr id="110" name="Google Shape;110;p20"/>
          <p:cNvPicPr preferRelativeResize="0"/>
          <p:nvPr/>
        </p:nvPicPr>
        <p:blipFill>
          <a:blip r:embed="rId4">
            <a:alphaModFix/>
          </a:blip>
          <a:stretch>
            <a:fillRect/>
          </a:stretch>
        </p:blipFill>
        <p:spPr>
          <a:xfrm>
            <a:off x="3435875" y="1991445"/>
            <a:ext cx="2475460" cy="940675"/>
          </a:xfrm>
          <a:prstGeom prst="rect">
            <a:avLst/>
          </a:prstGeom>
          <a:noFill/>
          <a:ln>
            <a:noFill/>
          </a:ln>
        </p:spPr>
      </p:pic>
      <p:pic>
        <p:nvPicPr>
          <p:cNvPr id="111" name="Google Shape;111;p20"/>
          <p:cNvPicPr preferRelativeResize="0"/>
          <p:nvPr/>
        </p:nvPicPr>
        <p:blipFill>
          <a:blip r:embed="rId5">
            <a:alphaModFix/>
          </a:blip>
          <a:stretch>
            <a:fillRect/>
          </a:stretch>
        </p:blipFill>
        <p:spPr>
          <a:xfrm>
            <a:off x="6280900" y="1991450"/>
            <a:ext cx="2581394" cy="940675"/>
          </a:xfrm>
          <a:prstGeom prst="rect">
            <a:avLst/>
          </a:prstGeom>
          <a:noFill/>
          <a:ln>
            <a:noFill/>
          </a:ln>
        </p:spPr>
      </p:pic>
      <p:pic>
        <p:nvPicPr>
          <p:cNvPr id="112" name="Google Shape;112;p20"/>
          <p:cNvPicPr preferRelativeResize="0"/>
          <p:nvPr/>
        </p:nvPicPr>
        <p:blipFill>
          <a:blip r:embed="rId6">
            <a:alphaModFix/>
          </a:blip>
          <a:stretch>
            <a:fillRect/>
          </a:stretch>
        </p:blipFill>
        <p:spPr>
          <a:xfrm>
            <a:off x="2414300" y="3129475"/>
            <a:ext cx="6448002" cy="1973900"/>
          </a:xfrm>
          <a:prstGeom prst="rect">
            <a:avLst/>
          </a:prstGeom>
          <a:noFill/>
          <a:ln>
            <a:noFill/>
          </a:ln>
        </p:spPr>
      </p:pic>
      <p:pic>
        <p:nvPicPr>
          <p:cNvPr id="113" name="Google Shape;113;p20"/>
          <p:cNvPicPr preferRelativeResize="0"/>
          <p:nvPr/>
        </p:nvPicPr>
        <p:blipFill>
          <a:blip r:embed="rId7">
            <a:alphaModFix/>
          </a:blip>
          <a:stretch>
            <a:fillRect/>
          </a:stretch>
        </p:blipFill>
        <p:spPr>
          <a:xfrm>
            <a:off x="311700" y="3583950"/>
            <a:ext cx="2043750" cy="818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 Audio</a:t>
            </a:r>
            <a:endParaRPr/>
          </a:p>
        </p:txBody>
      </p:sp>
      <p:sp>
        <p:nvSpPr>
          <p:cNvPr id="119" name="Google Shape;119;p21"/>
          <p:cNvSpPr txBox="1"/>
          <p:nvPr>
            <p:ph idx="1" type="body"/>
          </p:nvPr>
        </p:nvSpPr>
        <p:spPr>
          <a:xfrm>
            <a:off x="311700" y="1152475"/>
            <a:ext cx="4449300" cy="2793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71271"/>
              <a:buFont typeface="Arial"/>
              <a:buNone/>
            </a:pPr>
            <a:r>
              <a:rPr lang="en" sz="1543">
                <a:solidFill>
                  <a:srgbClr val="000000"/>
                </a:solidFill>
              </a:rPr>
              <a:t>Dataset &amp; Preprocessing</a:t>
            </a:r>
            <a:br>
              <a:rPr lang="en" sz="1543">
                <a:solidFill>
                  <a:srgbClr val="000000"/>
                </a:solidFill>
              </a:rPr>
            </a:br>
            <a:endParaRPr sz="1543">
              <a:solidFill>
                <a:srgbClr val="000000"/>
              </a:solidFill>
            </a:endParaRPr>
          </a:p>
          <a:p>
            <a:pPr indent="0" lvl="0" marL="0" rtl="0" algn="l">
              <a:spcBef>
                <a:spcPts val="1200"/>
              </a:spcBef>
              <a:spcAft>
                <a:spcPts val="0"/>
              </a:spcAft>
              <a:buClr>
                <a:schemeClr val="dk1"/>
              </a:buClr>
              <a:buSzPct val="91666"/>
              <a:buFont typeface="Arial"/>
              <a:buNone/>
            </a:pPr>
            <a:r>
              <a:rPr lang="en" sz="1200">
                <a:solidFill>
                  <a:srgbClr val="000000"/>
                </a:solidFill>
              </a:rPr>
              <a:t>Dataset Source</a:t>
            </a:r>
            <a:br>
              <a:rPr lang="en" sz="1200">
                <a:solidFill>
                  <a:srgbClr val="000000"/>
                </a:solidFill>
              </a:rPr>
            </a:br>
            <a:r>
              <a:rPr lang="en" sz="1200" u="sng">
                <a:solidFill>
                  <a:schemeClr val="hlink"/>
                </a:solidFill>
                <a:hlinkClick r:id="rId3"/>
              </a:rPr>
              <a:t>https://www.kaggle.com/datasets/mohammedabdeldayem/the-fake-or-real-dataset?resource=download</a:t>
            </a:r>
            <a:endParaRPr b="1" sz="1200">
              <a:solidFill>
                <a:srgbClr val="000000"/>
              </a:solidFill>
            </a:endParaRPr>
          </a:p>
          <a:p>
            <a:pPr indent="0" lvl="0" marL="0" rtl="0" algn="l">
              <a:spcBef>
                <a:spcPts val="1200"/>
              </a:spcBef>
              <a:spcAft>
                <a:spcPts val="0"/>
              </a:spcAft>
              <a:buNone/>
            </a:pPr>
            <a:r>
              <a:rPr lang="en" sz="1200">
                <a:solidFill>
                  <a:srgbClr val="000000"/>
                </a:solidFill>
              </a:rPr>
              <a:t>Spectrogram Conversion</a:t>
            </a:r>
            <a:endParaRPr sz="1200">
              <a:solidFill>
                <a:srgbClr val="000000"/>
              </a:solidFill>
            </a:endParaRPr>
          </a:p>
          <a:p>
            <a:pPr indent="-293370" lvl="0" marL="457200" rtl="0" algn="l">
              <a:spcBef>
                <a:spcPts val="1200"/>
              </a:spcBef>
              <a:spcAft>
                <a:spcPts val="0"/>
              </a:spcAft>
              <a:buClr>
                <a:srgbClr val="000000"/>
              </a:buClr>
              <a:buSzPct val="100000"/>
              <a:buChar char="-"/>
            </a:pPr>
            <a:r>
              <a:rPr lang="en" sz="1200">
                <a:solidFill>
                  <a:srgbClr val="000000"/>
                </a:solidFill>
              </a:rPr>
              <a:t>Load .wav files via torchaudio</a:t>
            </a:r>
            <a:endParaRPr sz="1200">
              <a:solidFill>
                <a:srgbClr val="000000"/>
              </a:solidFill>
            </a:endParaRPr>
          </a:p>
          <a:p>
            <a:pPr indent="-293370" lvl="0" marL="457200" rtl="0" algn="l">
              <a:spcBef>
                <a:spcPts val="0"/>
              </a:spcBef>
              <a:spcAft>
                <a:spcPts val="0"/>
              </a:spcAft>
              <a:buClr>
                <a:srgbClr val="000000"/>
              </a:buClr>
              <a:buSzPct val="100000"/>
              <a:buChar char="-"/>
            </a:pPr>
            <a:r>
              <a:rPr lang="en" sz="1200">
                <a:solidFill>
                  <a:srgbClr val="000000"/>
                </a:solidFill>
              </a:rPr>
              <a:t>Conversion to momo, compute 128-band MelSpectrogram</a:t>
            </a:r>
            <a:endParaRPr sz="1200">
              <a:solidFill>
                <a:srgbClr val="000000"/>
              </a:solidFill>
            </a:endParaRPr>
          </a:p>
          <a:p>
            <a:pPr indent="-293370" lvl="0" marL="457200" rtl="0" algn="l">
              <a:spcBef>
                <a:spcPts val="0"/>
              </a:spcBef>
              <a:spcAft>
                <a:spcPts val="0"/>
              </a:spcAft>
              <a:buClr>
                <a:srgbClr val="000000"/>
              </a:buClr>
              <a:buSzPct val="100000"/>
              <a:buChar char="-"/>
            </a:pPr>
            <a:r>
              <a:rPr lang="en" sz="1200">
                <a:solidFill>
                  <a:srgbClr val="000000"/>
                </a:solidFill>
              </a:rPr>
              <a:t>Convert to dB scale, resize to 224x224, normalize</a:t>
            </a:r>
            <a:endParaRPr sz="1200">
              <a:solidFill>
                <a:srgbClr val="000000"/>
              </a:solidFill>
            </a:endParaRPr>
          </a:p>
          <a:p>
            <a:pPr indent="0" lvl="0" marL="0" rtl="0" algn="l">
              <a:spcBef>
                <a:spcPts val="1200"/>
              </a:spcBef>
              <a:spcAft>
                <a:spcPts val="0"/>
              </a:spcAft>
              <a:buClr>
                <a:schemeClr val="dk1"/>
              </a:buClr>
              <a:buSzPct val="91666"/>
              <a:buFont typeface="Arial"/>
              <a:buNone/>
            </a:pPr>
            <a:r>
              <a:t/>
            </a:r>
            <a:endParaRPr sz="1200">
              <a:solidFill>
                <a:srgbClr val="000000"/>
              </a:solidFill>
            </a:endParaRPr>
          </a:p>
          <a:p>
            <a:pPr indent="0" lvl="0" marL="0" rtl="0" algn="l">
              <a:spcBef>
                <a:spcPts val="1200"/>
              </a:spcBef>
              <a:spcAft>
                <a:spcPts val="1200"/>
              </a:spcAft>
              <a:buNone/>
            </a:pPr>
            <a:r>
              <a:t/>
            </a:r>
            <a:endParaRPr/>
          </a:p>
        </p:txBody>
      </p:sp>
      <p:pic>
        <p:nvPicPr>
          <p:cNvPr id="120" name="Google Shape;120;p21"/>
          <p:cNvPicPr preferRelativeResize="0"/>
          <p:nvPr/>
        </p:nvPicPr>
        <p:blipFill>
          <a:blip r:embed="rId4">
            <a:alphaModFix/>
          </a:blip>
          <a:stretch>
            <a:fillRect/>
          </a:stretch>
        </p:blipFill>
        <p:spPr>
          <a:xfrm>
            <a:off x="5493300" y="901175"/>
            <a:ext cx="3339007" cy="3820976"/>
          </a:xfrm>
          <a:prstGeom prst="rect">
            <a:avLst/>
          </a:prstGeom>
          <a:noFill/>
          <a:ln>
            <a:noFill/>
          </a:ln>
        </p:spPr>
      </p:pic>
      <p:pic>
        <p:nvPicPr>
          <p:cNvPr id="121" name="Google Shape;121;p21"/>
          <p:cNvPicPr preferRelativeResize="0"/>
          <p:nvPr/>
        </p:nvPicPr>
        <p:blipFill>
          <a:blip r:embed="rId5">
            <a:alphaModFix/>
          </a:blip>
          <a:stretch>
            <a:fillRect/>
          </a:stretch>
        </p:blipFill>
        <p:spPr>
          <a:xfrm>
            <a:off x="311700" y="3244645"/>
            <a:ext cx="4353676" cy="1722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 Audio pt2</a:t>
            </a:r>
            <a:endParaRPr/>
          </a:p>
        </p:txBody>
      </p:sp>
      <p:sp>
        <p:nvSpPr>
          <p:cNvPr id="127" name="Google Shape;127;p22"/>
          <p:cNvSpPr txBox="1"/>
          <p:nvPr>
            <p:ph idx="1" type="body"/>
          </p:nvPr>
        </p:nvSpPr>
        <p:spPr>
          <a:xfrm>
            <a:off x="311700" y="1152475"/>
            <a:ext cx="4969200" cy="1959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1535">
                <a:solidFill>
                  <a:schemeClr val="dk1"/>
                </a:solidFill>
              </a:rPr>
              <a:t>EfficientNetv2</a:t>
            </a:r>
            <a:endParaRPr sz="1535">
              <a:solidFill>
                <a:schemeClr val="dk1"/>
              </a:solidFill>
            </a:endParaRPr>
          </a:p>
          <a:p>
            <a:pPr indent="0" lvl="0" marL="0" rtl="0" algn="l">
              <a:spcBef>
                <a:spcPts val="1200"/>
              </a:spcBef>
              <a:spcAft>
                <a:spcPts val="0"/>
              </a:spcAft>
              <a:buNone/>
            </a:pPr>
            <a:r>
              <a:rPr lang="en" sz="1300">
                <a:solidFill>
                  <a:schemeClr val="dk1"/>
                </a:solidFill>
              </a:rPr>
              <a:t>Architecture and Features</a:t>
            </a:r>
            <a:endParaRPr sz="1300">
              <a:solidFill>
                <a:schemeClr val="dk1"/>
              </a:solidFill>
            </a:endParaRPr>
          </a:p>
          <a:p>
            <a:pPr indent="-298767" lvl="0" marL="457200" rtl="0" algn="l">
              <a:spcBef>
                <a:spcPts val="1200"/>
              </a:spcBef>
              <a:spcAft>
                <a:spcPts val="0"/>
              </a:spcAft>
              <a:buClr>
                <a:schemeClr val="dk1"/>
              </a:buClr>
              <a:buSzPct val="100000"/>
              <a:buChar char="-"/>
            </a:pPr>
            <a:r>
              <a:rPr lang="en" sz="1300">
                <a:solidFill>
                  <a:schemeClr val="dk1"/>
                </a:solidFill>
              </a:rPr>
              <a:t>Pretrained EfficientNetV2 (RW-S) backbone</a:t>
            </a:r>
            <a:endParaRPr sz="1300">
              <a:solidFill>
                <a:schemeClr val="dk1"/>
              </a:solidFill>
            </a:endParaRPr>
          </a:p>
          <a:p>
            <a:pPr indent="-298767" lvl="0" marL="457200" rtl="0" algn="l">
              <a:spcBef>
                <a:spcPts val="0"/>
              </a:spcBef>
              <a:spcAft>
                <a:spcPts val="0"/>
              </a:spcAft>
              <a:buClr>
                <a:schemeClr val="dk1"/>
              </a:buClr>
              <a:buSzPct val="100000"/>
              <a:buChar char="-"/>
            </a:pPr>
            <a:r>
              <a:rPr lang="en" sz="1300">
                <a:solidFill>
                  <a:schemeClr val="dk1"/>
                </a:solidFill>
              </a:rPr>
              <a:t>Global average pool, head adapted for 2 classes</a:t>
            </a:r>
            <a:endParaRPr sz="1300">
              <a:solidFill>
                <a:schemeClr val="dk1"/>
              </a:solidFill>
            </a:endParaRPr>
          </a:p>
          <a:p>
            <a:pPr indent="0" lvl="0" marL="0" rtl="0" algn="l">
              <a:spcBef>
                <a:spcPts val="1200"/>
              </a:spcBef>
              <a:spcAft>
                <a:spcPts val="0"/>
              </a:spcAft>
              <a:buNone/>
            </a:pPr>
            <a:r>
              <a:rPr lang="en" sz="1300">
                <a:solidFill>
                  <a:schemeClr val="dk1"/>
                </a:solidFill>
              </a:rPr>
              <a:t>Training Setup</a:t>
            </a:r>
            <a:endParaRPr sz="1300">
              <a:solidFill>
                <a:schemeClr val="dk1"/>
              </a:solidFill>
            </a:endParaRPr>
          </a:p>
          <a:p>
            <a:pPr indent="-298767" lvl="0" marL="457200" rtl="0" algn="l">
              <a:spcBef>
                <a:spcPts val="1200"/>
              </a:spcBef>
              <a:spcAft>
                <a:spcPts val="0"/>
              </a:spcAft>
              <a:buClr>
                <a:schemeClr val="dk1"/>
              </a:buClr>
              <a:buSzPct val="100000"/>
              <a:buChar char="-"/>
            </a:pPr>
            <a:r>
              <a:rPr lang="en" sz="1300">
                <a:solidFill>
                  <a:schemeClr val="dk1"/>
                </a:solidFill>
              </a:rPr>
              <a:t>Backbone frozen, only classification head trainable</a:t>
            </a:r>
            <a:endParaRPr sz="1300">
              <a:solidFill>
                <a:schemeClr val="dk1"/>
              </a:solidFill>
            </a:endParaRPr>
          </a:p>
          <a:p>
            <a:pPr indent="-298767" lvl="0" marL="457200" rtl="0" algn="l">
              <a:spcBef>
                <a:spcPts val="0"/>
              </a:spcBef>
              <a:spcAft>
                <a:spcPts val="0"/>
              </a:spcAft>
              <a:buClr>
                <a:schemeClr val="dk1"/>
              </a:buClr>
              <a:buSzPct val="100000"/>
              <a:buChar char="-"/>
            </a:pPr>
            <a:r>
              <a:rPr lang="en" sz="1300">
                <a:solidFill>
                  <a:schemeClr val="dk1"/>
                </a:solidFill>
              </a:rPr>
              <a:t>Adam optimizer, CrossEntropyLoss</a:t>
            </a:r>
            <a:endParaRPr sz="1300">
              <a:solidFill>
                <a:schemeClr val="dk1"/>
              </a:solidFill>
            </a:endParaRPr>
          </a:p>
        </p:txBody>
      </p:sp>
      <p:pic>
        <p:nvPicPr>
          <p:cNvPr id="128" name="Google Shape;128;p22"/>
          <p:cNvPicPr preferRelativeResize="0"/>
          <p:nvPr/>
        </p:nvPicPr>
        <p:blipFill>
          <a:blip r:embed="rId3">
            <a:alphaModFix/>
          </a:blip>
          <a:stretch>
            <a:fillRect/>
          </a:stretch>
        </p:blipFill>
        <p:spPr>
          <a:xfrm>
            <a:off x="5540875" y="950188"/>
            <a:ext cx="3043827" cy="3820975"/>
          </a:xfrm>
          <a:prstGeom prst="rect">
            <a:avLst/>
          </a:prstGeom>
          <a:noFill/>
          <a:ln>
            <a:noFill/>
          </a:ln>
        </p:spPr>
      </p:pic>
      <p:sp>
        <p:nvSpPr>
          <p:cNvPr id="129" name="Google Shape;129;p22"/>
          <p:cNvSpPr txBox="1"/>
          <p:nvPr>
            <p:ph idx="1" type="body"/>
          </p:nvPr>
        </p:nvSpPr>
        <p:spPr>
          <a:xfrm>
            <a:off x="311700" y="2995825"/>
            <a:ext cx="4969200" cy="1959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1535">
                <a:solidFill>
                  <a:schemeClr val="dk1"/>
                </a:solidFill>
              </a:rPr>
              <a:t>Vit-Small</a:t>
            </a:r>
            <a:endParaRPr sz="1535">
              <a:solidFill>
                <a:schemeClr val="dk1"/>
              </a:solidFill>
            </a:endParaRPr>
          </a:p>
          <a:p>
            <a:pPr indent="0" lvl="0" marL="0" rtl="0" algn="l">
              <a:spcBef>
                <a:spcPts val="1200"/>
              </a:spcBef>
              <a:spcAft>
                <a:spcPts val="0"/>
              </a:spcAft>
              <a:buNone/>
            </a:pPr>
            <a:r>
              <a:rPr lang="en" sz="1300">
                <a:solidFill>
                  <a:schemeClr val="dk1"/>
                </a:solidFill>
              </a:rPr>
              <a:t>Architecture and Features</a:t>
            </a:r>
            <a:endParaRPr sz="1300">
              <a:solidFill>
                <a:schemeClr val="dk1"/>
              </a:solidFill>
            </a:endParaRPr>
          </a:p>
          <a:p>
            <a:pPr indent="-298767" lvl="0" marL="457200" rtl="0" algn="l">
              <a:spcBef>
                <a:spcPts val="1200"/>
              </a:spcBef>
              <a:spcAft>
                <a:spcPts val="0"/>
              </a:spcAft>
              <a:buClr>
                <a:schemeClr val="dk1"/>
              </a:buClr>
              <a:buSzPct val="100000"/>
              <a:buChar char="-"/>
            </a:pPr>
            <a:r>
              <a:rPr lang="en" sz="1300">
                <a:solidFill>
                  <a:schemeClr val="dk1"/>
                </a:solidFill>
              </a:rPr>
              <a:t>Pretrained Vision Transformer (Deit-Small Patch16)</a:t>
            </a:r>
            <a:endParaRPr sz="1300">
              <a:solidFill>
                <a:schemeClr val="dk1"/>
              </a:solidFill>
            </a:endParaRPr>
          </a:p>
          <a:p>
            <a:pPr indent="-298767" lvl="0" marL="457200" rtl="0" algn="l">
              <a:spcBef>
                <a:spcPts val="0"/>
              </a:spcBef>
              <a:spcAft>
                <a:spcPts val="0"/>
              </a:spcAft>
              <a:buClr>
                <a:schemeClr val="dk1"/>
              </a:buClr>
              <a:buSzPct val="100000"/>
              <a:buChar char="-"/>
            </a:pPr>
            <a:r>
              <a:rPr lang="en" sz="1300">
                <a:solidFill>
                  <a:schemeClr val="dk1"/>
                </a:solidFill>
              </a:rPr>
              <a:t>Global average pool, head adapted for 2 classes</a:t>
            </a:r>
            <a:endParaRPr sz="1300">
              <a:solidFill>
                <a:schemeClr val="dk1"/>
              </a:solidFill>
            </a:endParaRPr>
          </a:p>
          <a:p>
            <a:pPr indent="0" lvl="0" marL="0" rtl="0" algn="l">
              <a:spcBef>
                <a:spcPts val="1200"/>
              </a:spcBef>
              <a:spcAft>
                <a:spcPts val="0"/>
              </a:spcAft>
              <a:buNone/>
            </a:pPr>
            <a:r>
              <a:rPr lang="en" sz="1300">
                <a:solidFill>
                  <a:schemeClr val="dk1"/>
                </a:solidFill>
              </a:rPr>
              <a:t>Training Setup</a:t>
            </a:r>
            <a:endParaRPr sz="1300">
              <a:solidFill>
                <a:schemeClr val="dk1"/>
              </a:solidFill>
            </a:endParaRPr>
          </a:p>
          <a:p>
            <a:pPr indent="-298767" lvl="0" marL="457200" rtl="0" algn="l">
              <a:spcBef>
                <a:spcPts val="1200"/>
              </a:spcBef>
              <a:spcAft>
                <a:spcPts val="0"/>
              </a:spcAft>
              <a:buClr>
                <a:schemeClr val="dk1"/>
              </a:buClr>
              <a:buSzPct val="100000"/>
              <a:buChar char="-"/>
            </a:pPr>
            <a:r>
              <a:rPr lang="en" sz="1300">
                <a:solidFill>
                  <a:schemeClr val="dk1"/>
                </a:solidFill>
              </a:rPr>
              <a:t>Backbone frozen, only classification head trainable</a:t>
            </a:r>
            <a:endParaRPr sz="1300">
              <a:solidFill>
                <a:schemeClr val="dk1"/>
              </a:solidFill>
            </a:endParaRPr>
          </a:p>
          <a:p>
            <a:pPr indent="-298767" lvl="0" marL="457200" rtl="0" algn="l">
              <a:spcBef>
                <a:spcPts val="0"/>
              </a:spcBef>
              <a:spcAft>
                <a:spcPts val="0"/>
              </a:spcAft>
              <a:buClr>
                <a:schemeClr val="dk1"/>
              </a:buClr>
              <a:buSzPct val="100000"/>
              <a:buChar char="-"/>
            </a:pPr>
            <a:r>
              <a:rPr lang="en" sz="1300">
                <a:solidFill>
                  <a:schemeClr val="dk1"/>
                </a:solidFill>
              </a:rPr>
              <a:t>Adam optimizer, CrossEntropyLoss</a:t>
            </a:r>
            <a:endParaRPr sz="13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 Audio pt 3</a:t>
            </a:r>
            <a:endParaRPr/>
          </a:p>
        </p:txBody>
      </p:sp>
      <p:sp>
        <p:nvSpPr>
          <p:cNvPr id="135" name="Google Shape;135;p23"/>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solidFill>
                  <a:schemeClr val="dk1"/>
                </a:solidFill>
              </a:rPr>
              <a:t>Hybrid Model: EfficientNet-B0 and ViT-Tiny</a:t>
            </a:r>
            <a:endParaRPr sz="1300">
              <a:solidFill>
                <a:schemeClr val="dk1"/>
              </a:solidFill>
            </a:endParaRPr>
          </a:p>
          <a:p>
            <a:pPr indent="0" lvl="0" marL="0" rtl="0" algn="l">
              <a:spcBef>
                <a:spcPts val="1200"/>
              </a:spcBef>
              <a:spcAft>
                <a:spcPts val="0"/>
              </a:spcAft>
              <a:buNone/>
            </a:pPr>
            <a:r>
              <a:rPr lang="en" sz="1300">
                <a:solidFill>
                  <a:schemeClr val="dk1"/>
                </a:solidFill>
              </a:rPr>
              <a:t>Components and Fusion</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EffientNet-B0 backbone(CNN, 1280-dim features)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ViT Tiny(DeiT-Tiny Patch16, 192-dim features</a:t>
            </a:r>
            <a:endParaRPr sz="1300">
              <a:solidFill>
                <a:schemeClr val="dk1"/>
              </a:solidFill>
            </a:endParaRPr>
          </a:p>
          <a:p>
            <a:pPr indent="0" lvl="0" marL="0" rtl="0" algn="l">
              <a:spcBef>
                <a:spcPts val="1200"/>
              </a:spcBef>
              <a:spcAft>
                <a:spcPts val="0"/>
              </a:spcAft>
              <a:buNone/>
            </a:pPr>
            <a:r>
              <a:rPr lang="en" sz="1300">
                <a:solidFill>
                  <a:schemeClr val="dk1"/>
                </a:solidFill>
              </a:rPr>
              <a:t>Fusion Head</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Concatenate 1280+192 features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Dense (256 units) -&gt; ReLU -&gt; Dropout(0.3) -&gt; Dense(2 classes)</a:t>
            </a:r>
            <a:endParaRPr sz="1300">
              <a:solidFill>
                <a:schemeClr val="dk1"/>
              </a:solidFill>
            </a:endParaRPr>
          </a:p>
        </p:txBody>
      </p:sp>
      <p:pic>
        <p:nvPicPr>
          <p:cNvPr id="136" name="Google Shape;136;p23"/>
          <p:cNvPicPr preferRelativeResize="0"/>
          <p:nvPr/>
        </p:nvPicPr>
        <p:blipFill>
          <a:blip r:embed="rId3">
            <a:alphaModFix/>
          </a:blip>
          <a:stretch>
            <a:fillRect/>
          </a:stretch>
        </p:blipFill>
        <p:spPr>
          <a:xfrm>
            <a:off x="4715425" y="445025"/>
            <a:ext cx="4267199" cy="319896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Experiments: Audio</a:t>
            </a:r>
            <a:endParaRPr/>
          </a:p>
        </p:txBody>
      </p:sp>
      <p:sp>
        <p:nvSpPr>
          <p:cNvPr id="142" name="Google Shape;142;p24"/>
          <p:cNvSpPr txBox="1"/>
          <p:nvPr>
            <p:ph idx="1" type="body"/>
          </p:nvPr>
        </p:nvSpPr>
        <p:spPr>
          <a:xfrm>
            <a:off x="311700" y="964200"/>
            <a:ext cx="3463200" cy="1529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1300">
                <a:solidFill>
                  <a:schemeClr val="dk1"/>
                </a:solidFill>
              </a:rPr>
              <a:t>Evaluation Metrics</a:t>
            </a:r>
            <a:endParaRPr sz="13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Accuracy, Precision, Recall, F1-score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Confusion matrix visualization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Training/Validation/Testing</a:t>
            </a:r>
            <a:endParaRPr sz="1100">
              <a:solidFill>
                <a:schemeClr val="dk1"/>
              </a:solidFill>
            </a:endParaRPr>
          </a:p>
          <a:p>
            <a:pPr indent="0" lvl="0" marL="0" rtl="0" algn="l">
              <a:spcBef>
                <a:spcPts val="1200"/>
              </a:spcBef>
              <a:spcAft>
                <a:spcPts val="1200"/>
              </a:spcAft>
              <a:buNone/>
            </a:pPr>
            <a:r>
              <a:t/>
            </a:r>
            <a:endParaRPr/>
          </a:p>
        </p:txBody>
      </p:sp>
      <p:pic>
        <p:nvPicPr>
          <p:cNvPr id="143" name="Google Shape;143;p24"/>
          <p:cNvPicPr preferRelativeResize="0"/>
          <p:nvPr/>
        </p:nvPicPr>
        <p:blipFill>
          <a:blip r:embed="rId3">
            <a:alphaModFix/>
          </a:blip>
          <a:stretch>
            <a:fillRect/>
          </a:stretch>
        </p:blipFill>
        <p:spPr>
          <a:xfrm>
            <a:off x="368300" y="2036475"/>
            <a:ext cx="3134225" cy="3107025"/>
          </a:xfrm>
          <a:prstGeom prst="rect">
            <a:avLst/>
          </a:prstGeom>
          <a:noFill/>
          <a:ln>
            <a:noFill/>
          </a:ln>
        </p:spPr>
      </p:pic>
      <p:pic>
        <p:nvPicPr>
          <p:cNvPr id="144" name="Google Shape;144;p24"/>
          <p:cNvPicPr preferRelativeResize="0"/>
          <p:nvPr/>
        </p:nvPicPr>
        <p:blipFill>
          <a:blip r:embed="rId4">
            <a:alphaModFix/>
          </a:blip>
          <a:stretch>
            <a:fillRect/>
          </a:stretch>
        </p:blipFill>
        <p:spPr>
          <a:xfrm>
            <a:off x="3502525" y="2036475"/>
            <a:ext cx="3107250" cy="3107026"/>
          </a:xfrm>
          <a:prstGeom prst="rect">
            <a:avLst/>
          </a:prstGeom>
          <a:noFill/>
          <a:ln>
            <a:noFill/>
          </a:ln>
        </p:spPr>
      </p:pic>
      <p:pic>
        <p:nvPicPr>
          <p:cNvPr id="145" name="Google Shape;145;p24"/>
          <p:cNvPicPr preferRelativeResize="0"/>
          <p:nvPr/>
        </p:nvPicPr>
        <p:blipFill>
          <a:blip r:embed="rId5">
            <a:alphaModFix/>
          </a:blip>
          <a:stretch>
            <a:fillRect/>
          </a:stretch>
        </p:blipFill>
        <p:spPr>
          <a:xfrm>
            <a:off x="6609775" y="2036475"/>
            <a:ext cx="2535125" cy="3107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1" name="Google Shape;15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2" name="Google Shape;152;p25"/>
          <p:cNvPicPr preferRelativeResize="0"/>
          <p:nvPr/>
        </p:nvPicPr>
        <p:blipFill>
          <a:blip r:embed="rId3">
            <a:alphaModFix/>
          </a:blip>
          <a:stretch>
            <a:fillRect/>
          </a:stretch>
        </p:blipFill>
        <p:spPr>
          <a:xfrm>
            <a:off x="2075737" y="162500"/>
            <a:ext cx="4992525" cy="2314000"/>
          </a:xfrm>
          <a:prstGeom prst="rect">
            <a:avLst/>
          </a:prstGeom>
          <a:noFill/>
          <a:ln>
            <a:noFill/>
          </a:ln>
        </p:spPr>
      </p:pic>
      <p:pic>
        <p:nvPicPr>
          <p:cNvPr id="153" name="Google Shape;153;p25"/>
          <p:cNvPicPr preferRelativeResize="0"/>
          <p:nvPr/>
        </p:nvPicPr>
        <p:blipFill>
          <a:blip r:embed="rId4">
            <a:alphaModFix/>
          </a:blip>
          <a:stretch>
            <a:fillRect/>
          </a:stretch>
        </p:blipFill>
        <p:spPr>
          <a:xfrm>
            <a:off x="0" y="2571750"/>
            <a:ext cx="4674599" cy="2185150"/>
          </a:xfrm>
          <a:prstGeom prst="rect">
            <a:avLst/>
          </a:prstGeom>
          <a:noFill/>
          <a:ln>
            <a:noFill/>
          </a:ln>
        </p:spPr>
      </p:pic>
      <p:pic>
        <p:nvPicPr>
          <p:cNvPr id="154" name="Google Shape;154;p25"/>
          <p:cNvPicPr preferRelativeResize="0"/>
          <p:nvPr/>
        </p:nvPicPr>
        <p:blipFill>
          <a:blip r:embed="rId5">
            <a:alphaModFix/>
          </a:blip>
          <a:stretch>
            <a:fillRect/>
          </a:stretch>
        </p:blipFill>
        <p:spPr>
          <a:xfrm>
            <a:off x="4875525" y="2571750"/>
            <a:ext cx="4268471" cy="1997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Innovations</a:t>
            </a:r>
            <a:endParaRPr/>
          </a:p>
        </p:txBody>
      </p:sp>
      <p:sp>
        <p:nvSpPr>
          <p:cNvPr id="160" name="Google Shape;16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1200"/>
              </a:spcAft>
              <a:buNone/>
            </a:pPr>
            <a:r>
              <a:rPr lang="en"/>
              <a:t>Most of the papers we read on the topic of deepfake detection focused mainly on video and image deepfake detection, especially those on the topic of a CNN ViT hybrid. We introduce the idea of using this hybrid not only for video and images but also for audio depfakes giving the hybrid </a:t>
            </a:r>
            <a:r>
              <a:rPr lang="en"/>
              <a:t>multi</a:t>
            </a:r>
            <a:r>
              <a:rPr lang="en"/>
              <a:t> modality usage for the </a:t>
            </a:r>
            <a:r>
              <a:rPr lang="en"/>
              <a:t>comparisons</a:t>
            </a:r>
            <a:r>
              <a:rPr lang="en"/>
              <a:t> with the CNN and Vit models.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Conclusion(Takeaway)</a:t>
            </a:r>
            <a:endParaRPr/>
          </a:p>
        </p:txBody>
      </p:sp>
      <p:sp>
        <p:nvSpPr>
          <p:cNvPr id="166" name="Google Shape;166;p27"/>
          <p:cNvSpPr txBox="1"/>
          <p:nvPr>
            <p:ph idx="1" type="body"/>
          </p:nvPr>
        </p:nvSpPr>
        <p:spPr>
          <a:xfrm>
            <a:off x="311700" y="1152475"/>
            <a:ext cx="8520600" cy="28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300"/>
              <a:t>Hybrid fusion leverages strength of both backbones</a:t>
            </a:r>
            <a:endParaRPr sz="1300"/>
          </a:p>
          <a:p>
            <a:pPr indent="-311150" lvl="0" marL="457200" rtl="0" algn="l">
              <a:spcBef>
                <a:spcPts val="0"/>
              </a:spcBef>
              <a:spcAft>
                <a:spcPts val="0"/>
              </a:spcAft>
              <a:buSzPts val="1300"/>
              <a:buChar char="➢"/>
            </a:pPr>
            <a:r>
              <a:rPr lang="en" sz="1300"/>
              <a:t>Non-hybrid models provide a baseline performance which are met by the hybrid model</a:t>
            </a:r>
            <a:endParaRPr sz="1300"/>
          </a:p>
          <a:p>
            <a:pPr indent="-311150" lvl="0" marL="457200" rtl="0" algn="l">
              <a:spcBef>
                <a:spcPts val="0"/>
              </a:spcBef>
              <a:spcAft>
                <a:spcPts val="0"/>
              </a:spcAft>
              <a:buSzPts val="1300"/>
              <a:buChar char="➢"/>
            </a:pPr>
            <a:r>
              <a:rPr lang="en" sz="1300"/>
              <a:t>Hybrid models require less parameters than non-hybrid models to get similar results</a:t>
            </a:r>
            <a:endParaRPr sz="1300"/>
          </a:p>
          <a:p>
            <a:pPr indent="-311150" lvl="0" marL="457200" rtl="0" algn="l">
              <a:spcBef>
                <a:spcPts val="0"/>
              </a:spcBef>
              <a:spcAft>
                <a:spcPts val="0"/>
              </a:spcAft>
              <a:buSzPts val="1300"/>
              <a:buChar char="➢"/>
            </a:pPr>
            <a:r>
              <a:rPr lang="en" sz="1300"/>
              <a:t>Hybrid model has a better completion time</a:t>
            </a:r>
            <a:endParaRPr sz="1300"/>
          </a:p>
          <a:p>
            <a:pPr indent="0" lvl="0" marL="0" rtl="0" algn="l">
              <a:spcBef>
                <a:spcPts val="1200"/>
              </a:spcBef>
              <a:spcAft>
                <a:spcPts val="0"/>
              </a:spcAft>
              <a:buNone/>
            </a:pPr>
            <a:r>
              <a:rPr lang="en" sz="1291"/>
              <a:t>Further Improvements:</a:t>
            </a:r>
            <a:endParaRPr sz="1291"/>
          </a:p>
          <a:p>
            <a:pPr indent="-310635" lvl="0" marL="457200" rtl="0" algn="l">
              <a:spcBef>
                <a:spcPts val="1200"/>
              </a:spcBef>
              <a:spcAft>
                <a:spcPts val="0"/>
              </a:spcAft>
              <a:buSzPts val="1292"/>
              <a:buChar char="●"/>
            </a:pPr>
            <a:r>
              <a:rPr lang="en" sz="1300"/>
              <a:t>Explore larger/deeper transformer models</a:t>
            </a:r>
            <a:endParaRPr sz="1291"/>
          </a:p>
          <a:p>
            <a:pPr indent="-310635" lvl="0" marL="457200" rtl="0" algn="l">
              <a:spcBef>
                <a:spcPts val="0"/>
              </a:spcBef>
              <a:spcAft>
                <a:spcPts val="0"/>
              </a:spcAft>
              <a:buSzPts val="1292"/>
              <a:buChar char="●"/>
            </a:pPr>
            <a:r>
              <a:rPr lang="en" sz="1300"/>
              <a:t>Real-Time live detection support such as voice authenticator.</a:t>
            </a:r>
            <a:endParaRPr sz="1291"/>
          </a:p>
          <a:p>
            <a:pPr indent="-310635" lvl="0" marL="457200" rtl="0" algn="l">
              <a:spcBef>
                <a:spcPts val="0"/>
              </a:spcBef>
              <a:spcAft>
                <a:spcPts val="0"/>
              </a:spcAft>
              <a:buSzPts val="1292"/>
              <a:buChar char="●"/>
            </a:pPr>
            <a:r>
              <a:rPr lang="en" sz="1291"/>
              <a:t>Test how training with more fake than real data and more real than fake data would affect the outcome.</a:t>
            </a:r>
            <a:endParaRPr sz="1291"/>
          </a:p>
          <a:p>
            <a:pPr indent="-310635" lvl="0" marL="457200" rtl="0" algn="l">
              <a:spcBef>
                <a:spcPts val="0"/>
              </a:spcBef>
              <a:spcAft>
                <a:spcPts val="0"/>
              </a:spcAft>
              <a:buSzPts val="1292"/>
              <a:buChar char="●"/>
            </a:pPr>
            <a:r>
              <a:rPr lang="en" sz="1291"/>
              <a:t>Build efficient models from scratch without using models with pretrained weights.</a:t>
            </a:r>
            <a:endParaRPr sz="1291"/>
          </a:p>
        </p:txBody>
      </p:sp>
      <p:sp>
        <p:nvSpPr>
          <p:cNvPr id="167" name="Google Shape;167;p27"/>
          <p:cNvSpPr txBox="1"/>
          <p:nvPr/>
        </p:nvSpPr>
        <p:spPr>
          <a:xfrm>
            <a:off x="349875" y="4153800"/>
            <a:ext cx="8212500" cy="75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Team contributions:</a:t>
            </a:r>
            <a:endParaRPr sz="1200">
              <a:solidFill>
                <a:schemeClr val="dk2"/>
              </a:solidFill>
            </a:endParaRPr>
          </a:p>
          <a:p>
            <a:pPr indent="0" lvl="0" marL="0" rtl="0" algn="l">
              <a:spcBef>
                <a:spcPts val="0"/>
              </a:spcBef>
              <a:spcAft>
                <a:spcPts val="0"/>
              </a:spcAft>
              <a:buNone/>
            </a:pPr>
            <a:r>
              <a:rPr lang="en" sz="1200">
                <a:solidFill>
                  <a:schemeClr val="dk2"/>
                </a:solidFill>
              </a:rPr>
              <a:t>Video Models: Agustin Munoz, Leo Findley</a:t>
            </a:r>
            <a:endParaRPr sz="1200">
              <a:solidFill>
                <a:schemeClr val="dk2"/>
              </a:solidFill>
            </a:endParaRPr>
          </a:p>
          <a:p>
            <a:pPr indent="0" lvl="0" marL="0" rtl="0" algn="l">
              <a:spcBef>
                <a:spcPts val="0"/>
              </a:spcBef>
              <a:spcAft>
                <a:spcPts val="0"/>
              </a:spcAft>
              <a:buNone/>
            </a:pPr>
            <a:r>
              <a:rPr lang="en" sz="1200">
                <a:solidFill>
                  <a:schemeClr val="dk2"/>
                </a:solidFill>
              </a:rPr>
              <a:t>Audio Models:</a:t>
            </a:r>
            <a:r>
              <a:rPr lang="en" sz="1300">
                <a:solidFill>
                  <a:schemeClr val="dk2"/>
                </a:solidFill>
              </a:rPr>
              <a:t> </a:t>
            </a:r>
            <a:r>
              <a:rPr lang="en" sz="1200">
                <a:solidFill>
                  <a:schemeClr val="dk2"/>
                </a:solidFill>
              </a:rPr>
              <a:t>Danny Kim</a:t>
            </a:r>
            <a:endParaRPr sz="12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